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  <p:sldMasterId id="2147483669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69" r:id="rId17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9"/>
      <p:bold r:id="rId20"/>
      <p:italic r:id="rId21"/>
      <p:boldItalic r:id="rId22"/>
    </p:embeddedFont>
    <p:embeddedFont>
      <p:font typeface="Maven Pro" panose="020B0604020202020204" charset="0"/>
      <p:regular r:id="rId23"/>
      <p:bold r:id="rId24"/>
    </p:embeddedFont>
    <p:embeddedFont>
      <p:font typeface="Nunito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2" y="18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58389f9faf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g158389f9fa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75f14c502f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g175f14c502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75f14c502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g175f14c50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75f14c502f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175f14c502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75f14c502f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g175f14c502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7765c5a73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g17765c5a73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75f14c502f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175f14c502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7765c5a733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17765c5a73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78a7b1bdb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g178a7b1bd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78a7b1bdb2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g178a7b1bd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75f14c502f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g175f14c502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1DD2BB12-24B2-4932-D665-1B07763E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75f14c502f_0_43:notes">
            <a:extLst>
              <a:ext uri="{FF2B5EF4-FFF2-40B4-BE49-F238E27FC236}">
                <a16:creationId xmlns:a16="http://schemas.microsoft.com/office/drawing/2014/main" id="{809C7B14-C483-AFFF-31AA-379E1E0B0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g175f14c502f_0_43:notes">
            <a:extLst>
              <a:ext uri="{FF2B5EF4-FFF2-40B4-BE49-F238E27FC236}">
                <a16:creationId xmlns:a16="http://schemas.microsoft.com/office/drawing/2014/main" id="{BAA0AD06-2FD7-96BA-3991-6C0A23276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5430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58389f9faf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158389f9faf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30127D86-65A9-ABBA-8F66-B156035C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58389f9faf_0_268:notes">
            <a:extLst>
              <a:ext uri="{FF2B5EF4-FFF2-40B4-BE49-F238E27FC236}">
                <a16:creationId xmlns:a16="http://schemas.microsoft.com/office/drawing/2014/main" id="{87B3F27C-FA26-1D7D-0659-65433661E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158389f9faf_0_268:notes">
            <a:extLst>
              <a:ext uri="{FF2B5EF4-FFF2-40B4-BE49-F238E27FC236}">
                <a16:creationId xmlns:a16="http://schemas.microsoft.com/office/drawing/2014/main" id="{C72298E2-4C60-7ED9-FE84-13BA128B0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2016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Char char="–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1" name="Google Shape;301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3" name="Google Shape;303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09" name="Google Shape;309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>
                <a:solidFill>
                  <a:srgbClr val="002F87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/>
          <p:nvPr/>
        </p:nvSpPr>
        <p:spPr>
          <a:xfrm>
            <a:off x="2308071" y="1239739"/>
            <a:ext cx="6836100" cy="2683500"/>
          </a:xfrm>
          <a:prstGeom prst="rect">
            <a:avLst/>
          </a:prstGeom>
          <a:solidFill>
            <a:srgbClr val="002F87">
              <a:alpha val="16079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98"/>
            <a:ext cx="4261105" cy="5147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 txBox="1"/>
          <p:nvPr/>
        </p:nvSpPr>
        <p:spPr>
          <a:xfrm>
            <a:off x="110222" y="4039541"/>
            <a:ext cx="34710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National Centers for</a:t>
            </a:r>
            <a:br>
              <a:rPr lang="en" sz="1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Environmental Information (NCEI)</a:t>
            </a:r>
            <a:endParaRPr sz="1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2701" y="2215391"/>
            <a:ext cx="1548664" cy="154866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/>
          <p:nvPr/>
        </p:nvSpPr>
        <p:spPr>
          <a:xfrm flipH="1">
            <a:off x="1231977" y="2758"/>
            <a:ext cx="2086276" cy="1722235"/>
          </a:xfrm>
          <a:custGeom>
            <a:avLst/>
            <a:gdLst/>
            <a:ahLst/>
            <a:cxnLst/>
            <a:rect l="l" t="t" r="r" b="b"/>
            <a:pathLst>
              <a:path w="2781701" h="2296313" extrusionOk="0">
                <a:moveTo>
                  <a:pt x="0" y="2296313"/>
                </a:moveTo>
                <a:lnTo>
                  <a:pt x="961495" y="0"/>
                </a:lnTo>
                <a:lnTo>
                  <a:pt x="2781701" y="0"/>
                </a:lnTo>
                <a:lnTo>
                  <a:pt x="1877957" y="2286690"/>
                </a:lnTo>
                <a:lnTo>
                  <a:pt x="0" y="2296313"/>
                </a:lnTo>
                <a:close/>
              </a:path>
            </a:pathLst>
          </a:custGeom>
          <a:solidFill>
            <a:srgbClr val="002F87">
              <a:alpha val="4941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0" y="4785881"/>
            <a:ext cx="8744355" cy="358299"/>
          </a:xfrm>
          <a:custGeom>
            <a:avLst/>
            <a:gdLst/>
            <a:ahLst/>
            <a:cxnLst/>
            <a:rect l="l" t="t" r="r" b="b"/>
            <a:pathLst>
              <a:path w="11776909" h="540829" extrusionOk="0">
                <a:moveTo>
                  <a:pt x="0" y="13291"/>
                </a:moveTo>
                <a:lnTo>
                  <a:pt x="11543662" y="0"/>
                </a:lnTo>
                <a:lnTo>
                  <a:pt x="11776909" y="540829"/>
                </a:lnTo>
                <a:lnTo>
                  <a:pt x="0" y="540829"/>
                </a:lnTo>
                <a:lnTo>
                  <a:pt x="0" y="13291"/>
                </a:lnTo>
                <a:close/>
              </a:path>
            </a:pathLst>
          </a:custGeom>
          <a:solidFill>
            <a:srgbClr val="0284C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8521364" y="4832250"/>
            <a:ext cx="622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628650" y="4832249"/>
            <a:ext cx="5747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National Centers for Environmental Information (NCEI)</a:t>
            </a:r>
            <a:endParaRPr sz="1100"/>
          </a:p>
        </p:txBody>
      </p:sp>
      <p:sp>
        <p:nvSpPr>
          <p:cNvPr id="286" name="Google Shape;286;p15"/>
          <p:cNvSpPr/>
          <p:nvPr/>
        </p:nvSpPr>
        <p:spPr>
          <a:xfrm>
            <a:off x="0" y="0"/>
            <a:ext cx="9144000" cy="2400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570" y="4585115"/>
            <a:ext cx="494268" cy="4942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ei.noaa.gov/thredds/catalog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yrandaGoesToSpace/eda-noaa-dat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imate.us/abou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sajobs.gov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/>
          <p:nvPr/>
        </p:nvSpPr>
        <p:spPr>
          <a:xfrm>
            <a:off x="3843612" y="1389776"/>
            <a:ext cx="5103000" cy="1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800"/>
              <a:buFont typeface="Arial Narrow"/>
              <a:buNone/>
            </a:pPr>
            <a:r>
              <a:rPr lang="en" sz="3800">
                <a:solidFill>
                  <a:srgbClr val="002F87"/>
                </a:solidFill>
                <a:latin typeface="Calibri"/>
                <a:ea typeface="Calibri"/>
                <a:cs typeface="Calibri"/>
                <a:sym typeface="Calibri"/>
              </a:rPr>
              <a:t>Visualizing NOAA Climate Data</a:t>
            </a:r>
            <a:endParaRPr sz="1100" b="0" i="0" u="none" strike="noStrike" cap="none">
              <a:solidFill>
                <a:srgbClr val="002F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3852600" y="3321467"/>
            <a:ext cx="529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100" b="0" i="0" u="none" strike="noStrike" cap="none">
              <a:solidFill>
                <a:srgbClr val="002F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121003" y="4609797"/>
            <a:ext cx="15402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9/30/2026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3843612" y="3986549"/>
            <a:ext cx="4861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2F87"/>
                </a:solidFill>
                <a:latin typeface="Calibri"/>
                <a:ea typeface="Calibri"/>
                <a:cs typeface="Calibri"/>
                <a:sym typeface="Calibri"/>
              </a:rPr>
              <a:t>Myranda Shirk (</a:t>
            </a:r>
            <a:r>
              <a:rPr lang="en" sz="1800" i="1" dirty="0">
                <a:solidFill>
                  <a:srgbClr val="002F87"/>
                </a:solidFill>
                <a:latin typeface="Calibri"/>
                <a:ea typeface="Calibri"/>
                <a:cs typeface="Calibri"/>
                <a:sym typeface="Calibri"/>
              </a:rPr>
              <a:t>they/she)</a:t>
            </a:r>
            <a:endParaRPr lang="en" sz="1800" dirty="0">
              <a:solidFill>
                <a:srgbClr val="002F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2F87"/>
                </a:solidFill>
                <a:latin typeface="Calibri"/>
                <a:ea typeface="Calibri"/>
                <a:cs typeface="Calibri"/>
                <a:sym typeface="Calibri"/>
              </a:rPr>
              <a:t>Senior Data Scientist and Lecturer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2F87"/>
                </a:solidFill>
                <a:latin typeface="Calibri"/>
                <a:ea typeface="Calibri"/>
                <a:cs typeface="Calibri"/>
                <a:sym typeface="Calibri"/>
              </a:rPr>
              <a:t>Vanderbilt University </a:t>
            </a:r>
            <a:endParaRPr sz="1800" dirty="0">
              <a:solidFill>
                <a:srgbClr val="002F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About Me…</a:t>
            </a:r>
            <a:endParaRPr/>
          </a:p>
        </p:txBody>
      </p:sp>
      <p:sp>
        <p:nvSpPr>
          <p:cNvPr id="327" name="Google Shape;327;p24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41169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-US" dirty="0"/>
              <a:t>Lecturer / DS at VU College of Connected Computing</a:t>
            </a: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dirty="0"/>
              <a:t>Former Data Scientist at NOAA NCEI, Archive Branch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Data engineering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Cloud computing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Machine learning and AI</a:t>
            </a:r>
          </a:p>
          <a:p>
            <a:pPr>
              <a:spcBef>
                <a:spcPts val="0"/>
              </a:spcBef>
            </a:pPr>
            <a:r>
              <a:rPr lang="en-US" dirty="0"/>
              <a:t>Former NASA Intern</a:t>
            </a:r>
          </a:p>
          <a:p>
            <a:pPr marL="5969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8" name="Google Shape;3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919" y="1268050"/>
            <a:ext cx="2048248" cy="273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3901" y="1605925"/>
            <a:ext cx="2270001" cy="302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/>
          <p:cNvPicPr preferRelativeResize="0"/>
          <p:nvPr/>
        </p:nvPicPr>
        <p:blipFill rotWithShape="1">
          <a:blip r:embed="rId5">
            <a:alphaModFix/>
          </a:blip>
          <a:srcRect l="7549" r="11615" b="17177"/>
          <a:stretch/>
        </p:blipFill>
        <p:spPr>
          <a:xfrm>
            <a:off x="3967375" y="3030525"/>
            <a:ext cx="1270176" cy="173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What is NCEI?</a:t>
            </a:r>
            <a:endParaRPr/>
          </a:p>
        </p:txBody>
      </p:sp>
      <p:sp>
        <p:nvSpPr>
          <p:cNvPr id="336" name="Google Shape;336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National Centers for Environmental Information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Hosts and provides access to one of the most significant archives on Earth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US leading authority for environmental data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i="1"/>
              <a:t>“From the bottom of the ocean to the surface of the sun!”</a:t>
            </a:r>
            <a:endParaRPr i="1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7" name="Google Shape;3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238" y="3363574"/>
            <a:ext cx="3237773" cy="13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What can you do with climate data?</a:t>
            </a:r>
            <a:endParaRPr/>
          </a:p>
        </p:txBody>
      </p:sp>
      <p:sp>
        <p:nvSpPr>
          <p:cNvPr id="343" name="Google Shape;343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Visualize 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Ocean/Land surface temperature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Ocean currents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Natural disasters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Analyze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Human impact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Sea ice concentration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Vegetation cover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Make predictions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Weather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Drought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Floods</a:t>
            </a:r>
            <a:endParaRPr/>
          </a:p>
        </p:txBody>
      </p:sp>
      <p:pic>
        <p:nvPicPr>
          <p:cNvPr id="344" name="Google Shape;3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400" y="947312"/>
            <a:ext cx="2341668" cy="167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8950" y="2681025"/>
            <a:ext cx="3780174" cy="22050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Storing Climate Data</a:t>
            </a:r>
            <a:endParaRPr/>
          </a:p>
        </p:txBody>
      </p:sp>
      <p:sp>
        <p:nvSpPr>
          <p:cNvPr id="351" name="Google Shape;351;p2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NetCDF: gridded data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i="1"/>
              <a:t>.nc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Stores data in a matrix of longitude and latitude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Separate matrix for each time step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Called “stacks” or “layers”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NetCDF file contains its own metadata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Variable names and definitions, units of measurement, etc.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Support mathematical operations, such as: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Addition, subtraction, scalar multiplication</a:t>
            </a:r>
            <a:endParaRPr/>
          </a:p>
          <a:p>
            <a:pPr marL="9144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7"/>
          <p:cNvSpPr/>
          <p:nvPr/>
        </p:nvSpPr>
        <p:spPr>
          <a:xfrm rot="-5400000" flipH="1">
            <a:off x="5754225" y="1074350"/>
            <a:ext cx="1162500" cy="12141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5835025" y="1342850"/>
            <a:ext cx="1059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Great for maps!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Using NetCDF in R</a:t>
            </a:r>
            <a:endParaRPr/>
          </a:p>
        </p:txBody>
      </p:sp>
      <p:sp>
        <p:nvSpPr>
          <p:cNvPr id="359" name="Google Shape;359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 u="sng" dirty="0">
                <a:solidFill>
                  <a:schemeClr val="tx1"/>
                </a:solidFill>
              </a:rPr>
              <a:t>RNetCDF</a:t>
            </a:r>
            <a:r>
              <a:rPr lang="en" dirty="0"/>
              <a:t> library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Read, write, and create NetCDF files</a:t>
            </a:r>
            <a:endParaRPr dirty="0"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dirty="0"/>
              <a:t>Useful functions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b="1" dirty="0"/>
              <a:t>o</a:t>
            </a:r>
            <a:r>
              <a:rPr lang="en" b="1" dirty="0"/>
              <a:t>pen.nc() </a:t>
            </a:r>
            <a:r>
              <a:rPr lang="en" dirty="0"/>
              <a:t>- open a NetCDF file 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b="1" dirty="0"/>
              <a:t>v</a:t>
            </a:r>
            <a:r>
              <a:rPr lang="en" b="1" dirty="0"/>
              <a:t>ar.get.nc()</a:t>
            </a:r>
            <a:r>
              <a:rPr lang="en" dirty="0"/>
              <a:t>- get data from a specific variable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b="1" dirty="0"/>
              <a:t>c</a:t>
            </a:r>
            <a:r>
              <a:rPr lang="en" b="1" dirty="0"/>
              <a:t>lose.nc()</a:t>
            </a:r>
            <a:r>
              <a:rPr lang="en" dirty="0"/>
              <a:t>- close the NetCDF file</a:t>
            </a:r>
            <a:endParaRPr dirty="0"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dirty="0"/>
              <a:t>NetCDF tools for other languages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Python: NetCDF4, xarray, numpy</a:t>
            </a:r>
            <a:endParaRPr dirty="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CLI/Bash: CDO</a:t>
            </a:r>
            <a:endParaRPr dirty="0"/>
          </a:p>
          <a:p>
            <a:pPr marL="9144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Accessing Climate Data</a:t>
            </a:r>
            <a:endParaRPr/>
          </a:p>
        </p:txBody>
      </p:sp>
      <p:sp>
        <p:nvSpPr>
          <p:cNvPr id="365" name="Google Shape;365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Direct Download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Visiting data.noaa.gov and downloading data yourself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Takes up memory on your computer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Data Server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Data hosted on a server at NOAA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Accessible via code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Cloud Streaming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Accessing data from a cloud server (AWS, Google Cloud, Microsoft Azure)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Streams data from cloud provider (may need cloud account)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Accessing Climate Data</a:t>
            </a:r>
            <a:endParaRPr/>
          </a:p>
        </p:txBody>
      </p:sp>
      <p:sp>
        <p:nvSpPr>
          <p:cNvPr id="371" name="Google Shape;371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Direct Download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Visiting data.noaa.gov and downloading data yourself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Takes up memory on your computer</a:t>
            </a:r>
            <a:endParaRPr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 b="1"/>
              <a:t>Data Server</a:t>
            </a:r>
            <a:endParaRPr b="1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b="1"/>
              <a:t>Data hosted on a server at NOAA</a:t>
            </a:r>
            <a:endParaRPr b="1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b="1"/>
              <a:t>Accessible via code</a:t>
            </a:r>
            <a:endParaRPr b="1"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Cloud Streaming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Accessing data from a cloud server (AWS, Google Cloud, Microsoft Azure)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Streams data from cloud provider (may need cloud account)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4934650" y="2316825"/>
            <a:ext cx="2146800" cy="12189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Common for Environmental Scientists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NOAA Data Servers</a:t>
            </a:r>
            <a:endParaRPr/>
          </a:p>
        </p:txBody>
      </p:sp>
      <p:sp>
        <p:nvSpPr>
          <p:cNvPr id="378" name="Google Shape;378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▪"/>
            </a:pPr>
            <a:r>
              <a:rPr lang="en" dirty="0"/>
              <a:t>THREDDS (Thematic Real-time Environmental Distributed Data Services)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Web-facing directory containing dataset collections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Accessible via many web protocols (we will use OPENDAP)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 dirty="0"/>
              <a:t>Allows you to load data directly into your program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dirty="0"/>
              <a:t>View NOAA THREDDS catalog at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ncei.noaa.gov/thredds/catalog.html 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Putting it all together!</a:t>
            </a:r>
            <a:endParaRPr/>
          </a:p>
        </p:txBody>
      </p:sp>
      <p:sp>
        <p:nvSpPr>
          <p:cNvPr id="384" name="Google Shape;384;p3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Plan:</a:t>
            </a:r>
            <a:endParaRPr sz="20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a NetCDF file from THREDDS into R notebook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the NetCDF data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Plot the data to create a map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dirty="0"/>
              <a:t>Demo: Visualizing Ocean Temperatures in R</a:t>
            </a:r>
            <a:endParaRPr dirty="0"/>
          </a:p>
        </p:txBody>
      </p:sp>
      <p:sp>
        <p:nvSpPr>
          <p:cNvPr id="390" name="Google Shape;390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GitHub Repo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E5079E20-45F4-3EC1-3CD7-C6B5699C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>
            <a:extLst>
              <a:ext uri="{FF2B5EF4-FFF2-40B4-BE49-F238E27FC236}">
                <a16:creationId xmlns:a16="http://schemas.microsoft.com/office/drawing/2014/main" id="{4A8F5427-D3F0-3780-15EC-8FFEBD3735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dirty="0"/>
              <a:t>How </a:t>
            </a:r>
            <a:r>
              <a:rPr lang="en" i="1" dirty="0"/>
              <a:t>Does</a:t>
            </a:r>
            <a:r>
              <a:rPr lang="en" dirty="0"/>
              <a:t> Data Shape Our World?</a:t>
            </a:r>
            <a:endParaRPr lang="en-US"/>
          </a:p>
        </p:txBody>
      </p:sp>
      <p:sp>
        <p:nvSpPr>
          <p:cNvPr id="390" name="Google Shape;390;p33">
            <a:extLst>
              <a:ext uri="{FF2B5EF4-FFF2-40B4-BE49-F238E27FC236}">
                <a16:creationId xmlns:a16="http://schemas.microsoft.com/office/drawing/2014/main" id="{DAFEE55D-D7F3-019B-5CB4-8CA3517D654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8650" y="1458544"/>
            <a:ext cx="3752850" cy="3264408"/>
          </a:xfrm>
        </p:spPr>
        <p:txBody>
          <a:bodyPr spcFirstLastPara="1" lIns="68575" tIns="34275" rIns="68575" bIns="34275" anchor="t" anchorCtr="0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 dirty="0">
                <a:solidFill>
                  <a:srgbClr val="002F87"/>
                </a:solidFill>
              </a:rPr>
              <a:t>Climate.gov</a:t>
            </a:r>
          </a:p>
          <a:p>
            <a:pPr marL="800100" lvl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rgbClr val="002F87"/>
                </a:solidFill>
              </a:rPr>
              <a:t>Taken down in 2025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rgbClr val="002F87"/>
                </a:solidFill>
                <a:hlinkClick r:id="rId3"/>
              </a:rPr>
              <a:t>Climate.us</a:t>
            </a:r>
            <a:endParaRPr lang="en-US" dirty="0">
              <a:solidFill>
                <a:srgbClr val="002F87"/>
              </a:solidFill>
            </a:endParaRPr>
          </a:p>
          <a:p>
            <a:pPr marL="800100" lvl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rgbClr val="002F87"/>
                </a:solidFill>
              </a:rPr>
              <a:t>Built by ex-NOAA employees</a:t>
            </a:r>
          </a:p>
          <a:p>
            <a:pPr marL="800100" lvl="1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rgbClr val="002F87"/>
                </a:solidFill>
              </a:rPr>
              <a:t>“successor” to climate.gov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D3888D-86A8-BCDD-4704-C6C49D824B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28675"/>
          <a:stretch>
            <a:fillRect/>
          </a:stretch>
        </p:blipFill>
        <p:spPr>
          <a:xfrm>
            <a:off x="4762500" y="1458544"/>
            <a:ext cx="375285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48D3E1-E5A7-9A73-E974-0AA4A790E1BD}"/>
              </a:ext>
            </a:extLst>
          </p:cNvPr>
          <p:cNvSpPr/>
          <p:nvPr/>
        </p:nvSpPr>
        <p:spPr>
          <a:xfrm>
            <a:off x="420624" y="3291840"/>
            <a:ext cx="4151376" cy="1225296"/>
          </a:xfrm>
          <a:prstGeom prst="roundRect">
            <a:avLst/>
          </a:prstGeom>
          <a:solidFill>
            <a:srgbClr val="0284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We can only study what we can access</a:t>
            </a:r>
          </a:p>
        </p:txBody>
      </p:sp>
    </p:spTree>
    <p:extLst>
      <p:ext uri="{BB962C8B-B14F-4D97-AF65-F5344CB8AC3E}">
        <p14:creationId xmlns:p14="http://schemas.microsoft.com/office/powerpoint/2010/main" val="23847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" grpId="0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496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>
            <a:spLocks noGrp="1"/>
          </p:cNvSpPr>
          <p:nvPr>
            <p:ph type="title"/>
          </p:nvPr>
        </p:nvSpPr>
        <p:spPr>
          <a:xfrm>
            <a:off x="623900" y="998242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>
                <a:solidFill>
                  <a:schemeClr val="lt1"/>
                </a:solidFill>
              </a:rPr>
              <a:t>Work for NOAA?</a:t>
            </a:r>
            <a:br>
              <a:rPr lang="en-US" dirty="0">
                <a:solidFill>
                  <a:schemeClr val="lt1"/>
                </a:solidFill>
              </a:rPr>
            </a:br>
            <a:r>
              <a:rPr lang="en-US" dirty="0">
                <a:solidFill>
                  <a:schemeClr val="lt1"/>
                </a:solidFill>
              </a:rPr>
              <a:t>(or NASA or USGS…</a:t>
            </a:r>
            <a:r>
              <a:rPr lang="en-US" dirty="0" err="1">
                <a:solidFill>
                  <a:schemeClr val="lt1"/>
                </a:solidFill>
              </a:rPr>
              <a:t>etc</a:t>
            </a:r>
            <a:r>
              <a:rPr lang="en-US" dirty="0">
                <a:solidFill>
                  <a:schemeClr val="lt1"/>
                </a:solidFill>
              </a:rPr>
              <a:t>)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96" name="Google Shape;396;p34"/>
          <p:cNvSpPr txBox="1">
            <a:spLocks noGrp="1"/>
          </p:cNvSpPr>
          <p:nvPr>
            <p:ph type="body" idx="1"/>
          </p:nvPr>
        </p:nvSpPr>
        <p:spPr>
          <a:xfrm>
            <a:off x="623900" y="3258126"/>
            <a:ext cx="7886700" cy="13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0700" lvl="0" indent="-2667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hlinkClick r:id="rId3"/>
              </a:rPr>
              <a:t>usajobs.gov</a:t>
            </a:r>
            <a:r>
              <a:rPr lang="en-US" sz="2400" dirty="0">
                <a:solidFill>
                  <a:schemeClr val="lt1"/>
                </a:solidFill>
              </a:rPr>
              <a:t> has many student opportunities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496"/>
        </a:solidFill>
        <a:effectLst/>
      </p:bgPr>
    </p:bg>
    <p:spTree>
      <p:nvGrpSpPr>
        <p:cNvPr id="1" name="Shape 394">
          <a:extLst>
            <a:ext uri="{FF2B5EF4-FFF2-40B4-BE49-F238E27FC236}">
              <a16:creationId xmlns:a16="http://schemas.microsoft.com/office/drawing/2014/main" id="{C541505F-92D3-DF2A-F201-12A3CC38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>
            <a:extLst>
              <a:ext uri="{FF2B5EF4-FFF2-40B4-BE49-F238E27FC236}">
                <a16:creationId xmlns:a16="http://schemas.microsoft.com/office/drawing/2014/main" id="{D3EA209E-6D4A-AAF0-23C7-2F576F1AB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900" y="329168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396" name="Google Shape;396;p34">
            <a:extLst>
              <a:ext uri="{FF2B5EF4-FFF2-40B4-BE49-F238E27FC236}">
                <a16:creationId xmlns:a16="http://schemas.microsoft.com/office/drawing/2014/main" id="{7A53FA73-2CAA-2B8C-E844-C97D76351D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900" y="3258126"/>
            <a:ext cx="7886700" cy="13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0700" lvl="0" indent="-2667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lt1"/>
                </a:solidFill>
              </a:rPr>
              <a:t>Myranda Shirk</a:t>
            </a:r>
            <a:endParaRPr dirty="0">
              <a:solidFill>
                <a:schemeClr val="lt1"/>
              </a:solidFill>
            </a:endParaRPr>
          </a:p>
          <a:p>
            <a:pPr marL="520700" lvl="0" indent="-2667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lt1"/>
                </a:solidFill>
              </a:rPr>
              <a:t>myranda.</a:t>
            </a:r>
            <a:r>
              <a:rPr lang="en-US" dirty="0">
                <a:solidFill>
                  <a:schemeClr val="lt1"/>
                </a:solidFill>
              </a:rPr>
              <a:t>shirk@vanderbilt.edu</a:t>
            </a:r>
            <a:endParaRPr dirty="0"/>
          </a:p>
        </p:txBody>
      </p:sp>
      <p:pic>
        <p:nvPicPr>
          <p:cNvPr id="3" name="Google Shape;86;g3746c1550a9_0_0" descr="Vandy Data Science (@VUDataScience) | Twitter">
            <a:extLst>
              <a:ext uri="{FF2B5EF4-FFF2-40B4-BE49-F238E27FC236}">
                <a16:creationId xmlns:a16="http://schemas.microsoft.com/office/drawing/2014/main" id="{C747B47A-8274-A2F4-F924-32F3ABD0BB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4270" y="1196747"/>
            <a:ext cx="4683600" cy="1666700"/>
          </a:xfrm>
          <a:prstGeom prst="rect">
            <a:avLst/>
          </a:prstGeom>
          <a:noFill/>
          <a:ln w="9525" cap="flat" cmpd="sng">
            <a:solidFill>
              <a:srgbClr val="32323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554469276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536</Words>
  <Application>Microsoft Office PowerPoint</Application>
  <PresentationFormat>On-screen Show (16:9)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Courier New</vt:lpstr>
      <vt:lpstr>Maven Pro</vt:lpstr>
      <vt:lpstr>Arial Narrow</vt:lpstr>
      <vt:lpstr>NTR</vt:lpstr>
      <vt:lpstr>Arial</vt:lpstr>
      <vt:lpstr>Nunito</vt:lpstr>
      <vt:lpstr>Calibri</vt:lpstr>
      <vt:lpstr>Noto Sans Symbols</vt:lpstr>
      <vt:lpstr>Momentum</vt:lpstr>
      <vt:lpstr>Office Theme</vt:lpstr>
      <vt:lpstr>Office Theme</vt:lpstr>
      <vt:lpstr>PowerPoint Presentation</vt:lpstr>
      <vt:lpstr>About Me…</vt:lpstr>
      <vt:lpstr>What is NCEI?</vt:lpstr>
      <vt:lpstr>What can you do with climate data?</vt:lpstr>
      <vt:lpstr>Storing Climate Data</vt:lpstr>
      <vt:lpstr>Using NetCDF in R</vt:lpstr>
      <vt:lpstr>Accessing Climate Data</vt:lpstr>
      <vt:lpstr>Accessing Climate Data</vt:lpstr>
      <vt:lpstr>NOAA Data Servers</vt:lpstr>
      <vt:lpstr>Putting it all together!</vt:lpstr>
      <vt:lpstr>Demo: Visualizing Ocean Temperatures in R</vt:lpstr>
      <vt:lpstr>How Does Data Shape Our World?</vt:lpstr>
      <vt:lpstr>Work for NOAA? (or NASA or USGS…etc)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Shirk, Myranda</cp:lastModifiedBy>
  <cp:revision>4</cp:revision>
  <dcterms:modified xsi:type="dcterms:W3CDTF">2026-09-30T18:46:28Z</dcterms:modified>
</cp:coreProperties>
</file>